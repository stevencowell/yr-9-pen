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dcd06133734292" /><Relationship Type="http://schemas.openxmlformats.org/officeDocument/2006/relationships/extended-properties" Target="/docProps/app.xml" Id="R631331aa1c9546e3" /><Relationship Type="http://schemas.openxmlformats.org/officeDocument/2006/relationships/officeDocument" Target="/ppt/presentation.xml" Id="R4b466f4c914441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7e4d246f81412d"/>
  </p:sldMasterIdLst>
  <p:notesMasterIdLst>
    <p:notesMasterId xmlns:r="http://schemas.openxmlformats.org/officeDocument/2006/relationships" r:id="R6072c4d2ce7f449a"/>
  </p:notesMasterIdLst>
  <p:sldIdLst>
    <p:sldId xmlns:r="http://schemas.openxmlformats.org/officeDocument/2006/relationships" id="256" r:id="Rdce3d48f48844d75"/>
    <p:sldId xmlns:r="http://schemas.openxmlformats.org/officeDocument/2006/relationships" id="257" r:id="Rb54908e6439d49f4"/>
    <p:sldId xmlns:r="http://schemas.openxmlformats.org/officeDocument/2006/relationships" id="258" r:id="R7d7c314172da4e7a"/>
    <p:sldId xmlns:r="http://schemas.openxmlformats.org/officeDocument/2006/relationships" id="259" r:id="Re3b7de94b0e34b8e"/>
    <p:sldId xmlns:r="http://schemas.openxmlformats.org/officeDocument/2006/relationships" id="260" r:id="R128dff38163c4e51"/>
    <p:sldId xmlns:r="http://schemas.openxmlformats.org/officeDocument/2006/relationships" id="261" r:id="Ra5abb36bddfe4d08"/>
    <p:sldId xmlns:r="http://schemas.openxmlformats.org/officeDocument/2006/relationships" id="262" r:id="R43d235998e0e4862"/>
    <p:sldId xmlns:r="http://schemas.openxmlformats.org/officeDocument/2006/relationships" id="263" r:id="Rdd70a5ae8a584d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69601b420e40fd" /><Relationship Type="http://schemas.openxmlformats.org/officeDocument/2006/relationships/slideMaster" Target="/ppt/slideMasters/slideMaster1.xml" Id="Re17e4d246f81412d" /><Relationship Type="http://schemas.openxmlformats.org/officeDocument/2006/relationships/notesMaster" Target="/ppt/notesMasters/notesMaster1.xml" Id="R6072c4d2ce7f449a" /><Relationship Type="http://schemas.openxmlformats.org/officeDocument/2006/relationships/presProps" Target="/ppt/presProps.xml" Id="Rb31fdc66be2941f4" /><Relationship Type="http://schemas.openxmlformats.org/officeDocument/2006/relationships/tableStyles" Target="/ppt/tableStyles.xml" Id="Rd10b414a64814bd2" /><Relationship Type="http://schemas.openxmlformats.org/officeDocument/2006/relationships/slide" Target="/ppt/slides/slide1.xml" Id="Rdce3d48f48844d75" /><Relationship Type="http://schemas.openxmlformats.org/officeDocument/2006/relationships/slide" Target="/ppt/slides/slide2.xml" Id="Rb54908e6439d49f4" /><Relationship Type="http://schemas.openxmlformats.org/officeDocument/2006/relationships/slide" Target="/ppt/slides/slide3.xml" Id="R7d7c314172da4e7a" /><Relationship Type="http://schemas.openxmlformats.org/officeDocument/2006/relationships/slide" Target="/ppt/slides/slide4.xml" Id="Re3b7de94b0e34b8e" /><Relationship Type="http://schemas.openxmlformats.org/officeDocument/2006/relationships/slide" Target="/ppt/slides/slide5.xml" Id="R128dff38163c4e51" /><Relationship Type="http://schemas.openxmlformats.org/officeDocument/2006/relationships/slide" Target="/ppt/slides/slide6.xml" Id="Ra5abb36bddfe4d08" /><Relationship Type="http://schemas.openxmlformats.org/officeDocument/2006/relationships/slide" Target="/ppt/slides/slide7.xml" Id="R43d235998e0e4862" /><Relationship Type="http://schemas.openxmlformats.org/officeDocument/2006/relationships/slide" Target="/ppt/slides/slide8.xml" Id="Rdd70a5ae8a584d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5c5deaf67d41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9699fc22cc413e" /><Relationship Type="http://schemas.openxmlformats.org/officeDocument/2006/relationships/notesMaster" Target="/ppt/notesMasters/notesMaster1.xml" Id="R5e3743f4732445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ce1e1a7e5e45b9" /><Relationship Type="http://schemas.openxmlformats.org/officeDocument/2006/relationships/notesMaster" Target="/ppt/notesMasters/notesMaster1.xml" Id="Rde5e52d5678c40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ac292a2be44327" /><Relationship Type="http://schemas.openxmlformats.org/officeDocument/2006/relationships/notesMaster" Target="/ppt/notesMasters/notesMaster1.xml" Id="R5e52307a397d4f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421be639254580" /><Relationship Type="http://schemas.openxmlformats.org/officeDocument/2006/relationships/notesMaster" Target="/ppt/notesMasters/notesMaster1.xml" Id="Rec76ec9df89d4e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062db51ca34cd8" /><Relationship Type="http://schemas.openxmlformats.org/officeDocument/2006/relationships/notesMaster" Target="/ppt/notesMasters/notesMaster1.xml" Id="R87acb80fa3c245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f7d43d55c04f7b" /><Relationship Type="http://schemas.openxmlformats.org/officeDocument/2006/relationships/notesMaster" Target="/ppt/notesMasters/notesMaster1.xml" Id="R52973b958ec542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95e4e5d3094911" /><Relationship Type="http://schemas.openxmlformats.org/officeDocument/2006/relationships/notesMaster" Target="/ppt/notesMasters/notesMaster1.xml" Id="R10dc0ff4e9e847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bb7ce7218d43d0" /><Relationship Type="http://schemas.openxmlformats.org/officeDocument/2006/relationships/notesMaster" Target="/ppt/notesMasters/notesMaster1.xml" Id="R92932bb7ce1947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module purpose and connect it to the current project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weeks17-18/index.html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learning sequence without giving check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weeks17-18/index.html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Building a real Pen Work Method Statement.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weeks17-18/index.html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Creating the Pen production flowchart: inputs, processes and outputs.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weeks17-18/index.html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Explaining social and environmental impacts of Pen production and 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weeks17-18/index.html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prompts for retrieval before students open the interactive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weeks17-18/index.html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an answer to a live student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weeks17-18/index.html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complete the exit ticket, then return to the website to save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weeks17-18/index.html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3853257ecb48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38949215b34b3c" /><Relationship Type="http://schemas.openxmlformats.org/officeDocument/2006/relationships/slideLayout" Target="/ppt/slideLayouts/slideLayout1.xml" Id="Rc196a56006b749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96a56006b749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95445078d043d3" /><Relationship Type="http://schemas.openxmlformats.org/officeDocument/2006/relationships/image" Target="/ppt/media/image.png" Id="R625e29a8c2344b61" /><Relationship Type="http://schemas.openxmlformats.org/officeDocument/2006/relationships/notesSlide" Target="/ppt/notesSlides/notesSlide1.xml" Id="R1a370b417af743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d946c504048d5" /><Relationship Type="http://schemas.openxmlformats.org/officeDocument/2006/relationships/notesSlide" Target="/ppt/notesSlides/notesSlide2.xml" Id="R98f27a7ddb2d46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788c525e94992" /><Relationship Type="http://schemas.openxmlformats.org/officeDocument/2006/relationships/notesSlide" Target="/ppt/notesSlides/notesSlide3.xml" Id="R00d22e7a17454b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444f2e9f0f4a15" /><Relationship Type="http://schemas.openxmlformats.org/officeDocument/2006/relationships/notesSlide" Target="/ppt/notesSlides/notesSlide4.xml" Id="R6b09e8c2c79f4e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9e43c5d88e4a04" /><Relationship Type="http://schemas.openxmlformats.org/officeDocument/2006/relationships/notesSlide" Target="/ppt/notesSlides/notesSlide5.xml" Id="Ra5e7a02dc0a748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6226e85f014cd4" /><Relationship Type="http://schemas.openxmlformats.org/officeDocument/2006/relationships/notesSlide" Target="/ppt/notesSlides/notesSlide6.xml" Id="Rf076b3905bb649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073ac1bd284893" /><Relationship Type="http://schemas.openxmlformats.org/officeDocument/2006/relationships/notesSlide" Target="/ppt/notesSlides/notesSlide7.xml" Id="Rd382471024864e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7878dd7394ab4" /><Relationship Type="http://schemas.openxmlformats.org/officeDocument/2006/relationships/notesSlide" Target="/ppt/notesSlides/notesSlide8.xml" Id="R3777170f0a1a43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576E50-8BE0-4743-84E3-47109800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88B816-6906-431E-8ABE-0B85FF1F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0736C1-5A32-426D-AA1E-8AE58A0A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17–18  ·  1/8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33D0CC-D560-4E44-905F-CADA9020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173D31"/>
                </a:solidFill>
              </a:defRPr>
            </a:pPr>
            <a:r>
              <a:rPr sz="5100" b="1">
                <a:solidFill>
                  <a:srgbClr val="173D31"/>
                </a:solidFill>
              </a:rPr>
              <a:t>WMS, process flow and impacts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BF09AE-08B2-4904-ADA6-D2D2FED9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35A53"/>
                </a:solidFill>
              </a:defRPr>
            </a:pPr>
            <a:r>
              <a:rPr sz="1800">
                <a:solidFill>
                  <a:srgbClr val="435A53"/>
                </a:solidFill>
              </a:rPr>
              <a:t>Weeks 17–18 guided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5575C0-5BC1-44A6-8281-265FCBE7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076A48-3C8B-4D0C-A2E9-E2BFFF10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Read the theory. Check your understanding. Save useful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CC4A1B-6BC7-4C14-94D1-79505645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981450" cy="4762500"/>
          </a:xfrm>
          <a:prstGeom xmlns:a="http://schemas.openxmlformats.org/drawingml/2006/main" prst="roundRect">
            <a:avLst>
              <a:gd name="adj" fmla="val 4785"/>
            </a:avLst>
          </a:prstGeom>
          <a:solidFill xmlns:a="http://schemas.openxmlformats.org/drawingml/2006/main">
            <a:srgbClr val="E5D2BE"/>
          </a:solidFill>
          <a:ln xmlns:a="http://schemas.openxmlformats.org/drawingml/2006/main" w="0">
            <a:solidFill>
              <a:srgbClr val="E5D2BE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5e29a8c2344b61"/>
          <a:stretch xmlns:a="http://schemas.openxmlformats.org/drawingml/2006/main"/>
        </p:blipFill>
        <p:spPr>
          <a:xfrm xmlns:a="http://schemas.openxmlformats.org/drawingml/2006/main">
            <a:off x="7658100" y="2326521"/>
            <a:ext cx="3714750" cy="2090658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19227315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9AD389-F7DB-4E02-82C4-BE3C3816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6C25FC-D2F7-4EC5-985A-F52AD687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6B1EDB-2B5A-42DA-8AFB-7B912009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17–18  ·  2/8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592F33-8418-4231-8454-ECEA4629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What you will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640D8C-81DA-4D25-B5E9-779F2B86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35A53"/>
                </a:solidFill>
              </a:defRPr>
            </a:pPr>
            <a:r>
              <a:rPr sz="1650">
                <a:solidFill>
                  <a:srgbClr val="435A53"/>
                </a:solidFill>
              </a:rPr>
              <a:t>Use the module in order. Each idea supports the checks and written evidence that follow.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895D3-66A8-4176-949D-82073CC6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923B36-D3E9-401A-8364-C35DC6E4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86EDE4-056F-461C-A25C-25C6B80C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81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Building a real Pen Work Method Statement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26DE92-6DE9-4720-B6B5-20DE02F0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FE0289-E5D3-4464-AD75-B0FE7BF9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82BB08-036C-4AA0-B58D-F1A55CDC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909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Creating the Pen production flowchart: inputs, processes and outputs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3183A1-E11D-4E4B-BB4D-2F6111DE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33C5D4-D462-42EF-8E04-51BA0231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E1BF93-B822-47A6-9D9D-FDC56298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005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Explaining social and environmental impacts of Pen production and use</a:t>
            </a:r>
          </a:p>
        </p:txBody>
      </p:sp>
    </p:spTree>
    <p:extLst>
      <p:ext uri="{BB962C8B-B14F-4D97-AF65-F5344CB8AC3E}">
        <p14:creationId xmlns:p14="http://schemas.microsoft.com/office/powerpoint/2010/main" val="10657978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52DFA9-0BCF-410A-9401-14781D11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CB68F6-0EA7-4F11-918C-0D20B64E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F82523-46DC-43E1-94C0-A4D39EEB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17–18  ·  3/8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CC7D9F-BF66-4F8E-9B20-3E1DE0B4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Building a real Pen Work Method Statement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137497-C524-4D79-B233-78A7428F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DE0ECA-3086-423F-B8FB-5FDE2AE5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A602D0-F322-4F80-AAA8-2A72B7ED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Work Method Statement (WMS) for the Pen project is a practical plan that explains how the manufacture will be completed safely and in the correct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75A01A-041E-433C-86E3-48B52193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6DBCD3-9093-44F5-A466-1D712DAE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C72541-476C-475B-9C09-8790A3E4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It should show the real stages of this project, not a generic list that could belong to any workshop task.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1B2405-4B07-4587-92C7-72022E69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8F4E36-D80B-4479-90EC-48F1875C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BB4C91-DE0A-4262-8144-D82696A7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assessment requires students to sequence Pen manufacture and identify the hazards and controls connected with that sequence.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0C2D15-B595-4274-BF43-44FD3D1A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572292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69F0F3-46EA-4235-85C5-4B24A523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CED914-007D-421B-BABC-68DA2E8C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5A50D1-E737-4288-BE5D-CB773F0F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17–18  ·  4/8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7BD5BC-4B65-416F-ADFB-477F23C2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Creating the Pen production flowchart: inputs, processes…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30F8EC-E606-4C5C-98F7-014918E0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AB5AD7-4754-43B6-BB58-A98DD663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005514-65C4-4888-881A-2A1B48AE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Pen production flowchart is a visual explanation of how resources are transformed through an ordered series of processes into intended and unintended outputs.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A5EC8C-4C5F-43A8-832C-82B77E81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3C88A7-A9FF-4847-B7E8-BA95B2FC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F94A19-C1EA-4802-9533-3AEB29EC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assessment requires the flowchart to identify inputs, processes and outputs, while also allowing students to connect relevant social and environmental impacts.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713BBA-BBFC-4F4A-BF9E-99D33AD5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6C773C-C7B3-49CD-9058-5AA7D40B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20591C-837F-4C60-A68E-4BFF24AF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It should represent the approved Pen project accurately rather than filling gaps with guessed construction details.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6D1FEB-BDE1-4E77-A375-87ADE709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8115762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8D55D5-CDDF-4ED4-ADD2-C0341B7E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474EAF-44F8-4FEA-8249-450C4D04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2B99F9-A383-44FE-A13E-218DB287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17–18  ·  5/8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A6A31E-28B0-4E1F-96CE-ADF9B607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Explaining social and environmental impacts of Pen…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7264E7-8D5C-4EFE-A5D9-89A38410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8F5EE1-251A-4267-93F4-F3429EFC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932D1D-CA9C-4423-AF46-EAE09F02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Social and environmental impacts are the effects that Pen production and use can have on people, communities, resources and natural systems.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E0329B-731D-4E4D-9EBC-F8555102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E75A4E-4315-4819-88DD-BA8B0048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CA10A1-9F53-46EE-BFCB-88836D4E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assessment expects more than a claim that timber is sustainable or that handmade products are better.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FB1A85-884F-4F36-94DF-3AE08E00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18533B-0FA3-4673-A7BF-BD6A2BEA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8B63A0-E967-4A6F-800E-C7214274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Students must connect each claim to evidence from the actual project and qualify anything that has not been verified.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BEAD70-FBE1-4D6E-8072-2E769513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0732860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6F94C9-C88C-4FBA-9CB0-680F2B68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76E470-3BB2-4877-B213-ECC40BA2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D04237-94AC-4A07-9A22-C252282A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17–18  ·  6/8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F58C0A-34D1-4C51-830A-EBC13516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Pause and check your understanding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AE848F-F3BF-4390-A29B-85FCF943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F6045"/>
                </a:solidFill>
              </a:defRPr>
            </a:pPr>
            <a:r>
              <a:rPr sz="1575" b="1">
                <a:solidFill>
                  <a:srgbClr val="7F6045"/>
                </a:solidFill>
              </a:rPr>
              <a:t>What is the controlling idea?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684B63-C582-458E-9BC3-67997664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Building a real Pen Work Method Statement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2BD546-11F7-488D-B0F1-5775D4AD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F6045"/>
                </a:solidFill>
              </a:defRPr>
            </a:pPr>
            <a:r>
              <a:rPr sz="1575" b="1">
                <a:solidFill>
                  <a:srgbClr val="7F6045"/>
                </a:solidFill>
              </a:rPr>
              <a:t>Which check would prevent a mistake?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2E5DA7-0A50-4A4A-9743-A33D0AC0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Creating the Pen production flowchart: inputs, processes and outputs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56ACFE-2094-4FC0-8E03-34BA20BE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F6045"/>
                </a:solidFill>
              </a:defRPr>
            </a:pPr>
            <a:r>
              <a:rPr sz="1575" b="1">
                <a:solidFill>
                  <a:srgbClr val="7F6045"/>
                </a:solidFill>
              </a:rPr>
              <a:t>What evidence would show your decision?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8E2AA5-85E7-4230-BCF2-9FCD8340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Explaining social and environmental impacts of Pen production and use</a:t>
            </a:r>
          </a:p>
        </p:txBody>
      </p:sp>
    </p:spTree>
    <p:extLst>
      <p:ext uri="{BB962C8B-B14F-4D97-AF65-F5344CB8AC3E}">
        <p14:creationId xmlns:p14="http://schemas.microsoft.com/office/powerpoint/2010/main" val="1122548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B49A6E-AF09-4FDB-B814-2B76AAEF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3F2B61-F6C5-4561-8F2D-4211F3C7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793C56-1B19-4A2C-B630-68F86A66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17–18  ·  7/8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C66521-4071-4D3B-A7F3-4569E5C3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Build a stronger written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22BDD7-92AF-426D-8DAE-80CD4571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F6045"/>
                </a:solidFill>
              </a:defRPr>
            </a:pPr>
            <a:r>
              <a:rPr sz="2100" b="1">
                <a:solidFill>
                  <a:srgbClr val="7F6045"/>
                </a:solidFill>
              </a:rPr>
              <a:t>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F37E7E-A73B-49A3-A361-E220DD67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050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Underline the command word and the project detail.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F809D4-82BF-4C78-BBAC-9DE1C798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197C64-F328-46B9-BBC2-0199CDD7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F6045"/>
                </a:solidFill>
              </a:defRPr>
            </a:pPr>
            <a:r>
              <a:rPr sz="2100" b="1">
                <a:solidFill>
                  <a:srgbClr val="7F6045"/>
                </a:solidFill>
              </a:rPr>
              <a:t>Select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2F3218-BAD9-41C4-B0FD-81F36D20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527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Return to the exact theory section and choose relevant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B08AAB-B015-4CC5-9C52-2F935FA1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33F13B-6072-45B1-9EDB-6E5E30F5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F6045"/>
                </a:solidFill>
              </a:defRPr>
            </a:pPr>
            <a:r>
              <a:rPr sz="2100" b="1">
                <a:solidFill>
                  <a:srgbClr val="7F6045"/>
                </a:solidFill>
              </a:rPr>
              <a:t>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46C37D-96A5-42A2-A687-A76B6D37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Connect the decision, reason and likely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55167E-6AF9-4E19-A7C5-9750BD1C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1D0AF2-B2EF-4138-9DE6-421ACCD8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F6045"/>
                </a:solidFill>
              </a:defRPr>
            </a:pPr>
            <a:r>
              <a:rPr sz="2100" b="1">
                <a:solidFill>
                  <a:srgbClr val="7F6045"/>
                </a:solidFill>
              </a:rPr>
              <a:t>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FE1533-CD6B-415A-B650-E4EC3089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482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Make sure the response answers the question and stays source-accurate.</a:t>
            </a:r>
          </a:p>
        </p:txBody>
      </p:sp>
    </p:spTree>
    <p:extLst>
      <p:ext uri="{BB962C8B-B14F-4D97-AF65-F5344CB8AC3E}">
        <p14:creationId xmlns:p14="http://schemas.microsoft.com/office/powerpoint/2010/main" val="20361887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6FB93A-1AF1-4F7B-8EBA-70502723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A4456C-A6BB-4E09-8F1A-DC8C2580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F7A356-692B-47DD-A107-27A75D93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17–18  ·  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57BDEA-B2C3-4D43-8C5B-2FCA3757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Exit 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62036B-3369-438A-9468-412C371C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35A53"/>
                </a:solidFill>
              </a:defRPr>
            </a:pPr>
            <a:r>
              <a:rPr sz="1725">
                <a:solidFill>
                  <a:srgbClr val="435A53"/>
                </a:solidFill>
              </a:rPr>
              <a:t>Before you finish this module, answer these in your own words: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2CDAB8-C547-4922-A579-FDE76F75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0E9FAE-A631-4368-8214-9BB35744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1. One idea I can now explain: Building a real Pen Work Method Statement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33BD25-3016-42BF-89A6-441A94C4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4FAC29-BE69-468A-8CA7-270CD459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2. One practical check I must remember before the next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C70E9F-87B2-4499-801E-3FD1A93A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DEC26B-1CA1-4D00-9B99-DEEC2B34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3. One piece of evidence I should save or improve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ABBC7A-8F08-43E5-A5D5-66502D69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Return to the module page to complete the checks, written response and folio evidence.</a:t>
            </a:r>
          </a:p>
        </p:txBody>
      </p:sp>
    </p:spTree>
    <p:extLst>
      <p:ext uri="{BB962C8B-B14F-4D97-AF65-F5344CB8AC3E}">
        <p14:creationId xmlns:p14="http://schemas.microsoft.com/office/powerpoint/2010/main" val="465410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2026-08-16T02:12:36.7830000Z</dcterms:created>
  <dcterms:modified xsi:type="dcterms:W3CDTF">2026-08-16T02:12:36.7830000Z</dcterms:modified>
</coreProperties>
</file>